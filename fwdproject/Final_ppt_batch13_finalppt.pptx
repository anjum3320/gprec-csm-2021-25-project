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61" r:id="rId5"/>
    <p:sldId id="266" r:id="rId6"/>
    <p:sldId id="262" r:id="rId7"/>
    <p:sldId id="269" r:id="rId8"/>
    <p:sldId id="267" r:id="rId9"/>
    <p:sldId id="271" r:id="rId10"/>
    <p:sldId id="272" r:id="rId11"/>
    <p:sldId id="281" r:id="rId12"/>
    <p:sldId id="273" r:id="rId13"/>
    <p:sldId id="274" r:id="rId14"/>
    <p:sldId id="276" r:id="rId15"/>
    <p:sldId id="291" r:id="rId16"/>
    <p:sldId id="277" r:id="rId17"/>
    <p:sldId id="278" r:id="rId18"/>
    <p:sldId id="284" r:id="rId19"/>
    <p:sldId id="280" r:id="rId20"/>
    <p:sldId id="279" r:id="rId21"/>
    <p:sldId id="288" r:id="rId22"/>
    <p:sldId id="292" r:id="rId23"/>
    <p:sldId id="286" r:id="rId24"/>
    <p:sldId id="287"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5" d="100"/>
          <a:sy n="85" d="100"/>
        </p:scale>
        <p:origin x="54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t>5/1/2025</a:t>
            </a:fld>
            <a:endParaRPr lang="en-US"/>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635" y="-635"/>
            <a:ext cx="12192635" cy="103187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i="1">
                <a:ln w="10160">
                  <a:solidFill>
                    <a:schemeClr val="accent5"/>
                  </a:solidFill>
                  <a:prstDash val="solid"/>
                </a:ln>
                <a:solidFill>
                  <a:srgbClr val="FFFFFF"/>
                </a:solidFill>
                <a:effectLst>
                  <a:outerShdw blurRad="38100" dist="22860" dir="5400000" algn="tl" rotWithShape="0">
                    <a:srgbClr val="000000">
                      <a:alpha val="30000"/>
                    </a:srgbClr>
                  </a:outerShdw>
                </a:effectLst>
              </a:rPr>
              <a:t>INTELLIGENT MEDICATION FOR A HEALTHIER TOMORROW</a:t>
            </a:r>
          </a:p>
        </p:txBody>
      </p:sp>
      <p:sp>
        <p:nvSpPr>
          <p:cNvPr id="5" name="Text Box 4"/>
          <p:cNvSpPr txBox="1"/>
          <p:nvPr/>
        </p:nvSpPr>
        <p:spPr>
          <a:xfrm>
            <a:off x="610870" y="1114425"/>
            <a:ext cx="10944860" cy="5554345"/>
          </a:xfrm>
          <a:prstGeom prst="rect">
            <a:avLst/>
          </a:prstGeom>
          <a:noFill/>
        </p:spPr>
        <p:txBody>
          <a:bodyPr wrap="square" rIns="36195" rtlCol="0">
            <a:noAutofit/>
          </a:bodyPr>
          <a:lstStyle/>
          <a:p>
            <a:r>
              <a:rPr lang="en-IN" altLang="en-US" dirty="0">
                <a:blipFill>
                  <a:blip r:embed="rId2"/>
                  <a:tile tx="0" ty="0" sx="100000" sy="100000" flip="none" algn="tl"/>
                </a:blipFill>
              </a:rPr>
              <a:t>                                                                 </a:t>
            </a:r>
            <a:r>
              <a:rPr lang="en-US" altLang="en-IN" sz="2000" dirty="0">
                <a:blipFill>
                  <a:blip r:embed="rId2"/>
                  <a:tile tx="0" ty="0" sx="100000" sy="100000" flip="none" algn="tl"/>
                </a:blipFill>
              </a:rPr>
              <a:t> </a:t>
            </a:r>
            <a:r>
              <a:rPr lang="en-US" altLang="en-IN" sz="1600" b="1" dirty="0">
                <a:solidFill>
                  <a:schemeClr val="tx1"/>
                </a:solidFill>
              </a:rPr>
              <a:t>BATCH NO: 13</a:t>
            </a:r>
            <a:endParaRPr lang="en-IN" altLang="en-US" sz="2000" dirty="0">
              <a:blipFill>
                <a:blip r:embed="rId2"/>
                <a:tile tx="0" ty="0" sx="100000" sy="100000" flip="none" algn="tl"/>
              </a:blipFill>
            </a:endParaRPr>
          </a:p>
          <a:p>
            <a:r>
              <a:rPr lang="en-IN" altLang="en-US" sz="2400" b="1" dirty="0">
                <a:solidFill>
                  <a:srgbClr val="002060"/>
                </a:solidFill>
              </a:rPr>
              <a:t>Mehattar Anjum                </a:t>
            </a:r>
            <a:r>
              <a:rPr lang="en-US" altLang="en-IN" sz="2400" b="1" dirty="0">
                <a:solidFill>
                  <a:srgbClr val="002060"/>
                </a:solidFill>
              </a:rPr>
              <a:t>   B Jhansi Reddy</a:t>
            </a:r>
            <a:r>
              <a:rPr lang="en-IN" altLang="en-US" sz="2400" b="1" dirty="0">
                <a:solidFill>
                  <a:srgbClr val="002060"/>
                </a:solidFill>
              </a:rPr>
              <a:t>             </a:t>
            </a:r>
            <a:r>
              <a:rPr lang="en-US" altLang="en-IN" sz="2400" b="1" dirty="0">
                <a:solidFill>
                  <a:srgbClr val="002060"/>
                </a:solidFill>
              </a:rPr>
              <a:t>    </a:t>
            </a:r>
            <a:r>
              <a:rPr lang="en-IN" altLang="en-US" sz="2400" b="1" dirty="0">
                <a:solidFill>
                  <a:srgbClr val="002060"/>
                </a:solidFill>
                <a:sym typeface="+mn-ea"/>
              </a:rPr>
              <a:t>Supraja </a:t>
            </a:r>
            <a:r>
              <a:rPr lang="en-IN" altLang="en-US" sz="2400" b="1" dirty="0" err="1">
                <a:solidFill>
                  <a:srgbClr val="002060"/>
                </a:solidFill>
                <a:sym typeface="+mn-ea"/>
              </a:rPr>
              <a:t>Asthanaditta</a:t>
            </a:r>
            <a:endParaRPr lang="en-IN" altLang="en-US" sz="2400" b="1" dirty="0">
              <a:solidFill>
                <a:srgbClr val="002060"/>
              </a:solidFill>
            </a:endParaRPr>
          </a:p>
          <a:p>
            <a:r>
              <a:rPr lang="en-IN" altLang="en-US" dirty="0">
                <a:solidFill>
                  <a:srgbClr val="002060"/>
                </a:solidFill>
              </a:rPr>
              <a:t>Roll no:219X1A3320                            Roll no:219X1A330</a:t>
            </a:r>
            <a:r>
              <a:rPr lang="en-US" altLang="en-IN" dirty="0">
                <a:solidFill>
                  <a:srgbClr val="002060"/>
                </a:solidFill>
              </a:rPr>
              <a:t>3</a:t>
            </a:r>
            <a:r>
              <a:rPr lang="en-IN" altLang="en-US" dirty="0">
                <a:solidFill>
                  <a:srgbClr val="002060"/>
                </a:solidFill>
              </a:rPr>
              <a:t>                                Roll no:219X1A330</a:t>
            </a:r>
            <a:r>
              <a:rPr lang="en-US" altLang="en-IN" dirty="0">
                <a:solidFill>
                  <a:srgbClr val="002060"/>
                </a:solidFill>
              </a:rPr>
              <a:t>1</a:t>
            </a:r>
            <a:endParaRPr lang="en-IN" altLang="en-US" dirty="0">
              <a:solidFill>
                <a:srgbClr val="002060"/>
              </a:solidFill>
            </a:endParaRPr>
          </a:p>
          <a:p>
            <a:r>
              <a:rPr lang="en-IN" altLang="en-US" dirty="0">
                <a:solidFill>
                  <a:srgbClr val="002060"/>
                </a:solidFill>
              </a:rPr>
              <a:t>                                                            </a:t>
            </a:r>
          </a:p>
          <a:p>
            <a:pPr>
              <a:spcBef>
                <a:spcPts val="300"/>
              </a:spcBef>
            </a:pPr>
            <a:r>
              <a:rPr lang="en-IN" altLang="en-US" dirty="0">
                <a:solidFill>
                  <a:srgbClr val="002060"/>
                </a:solidFill>
              </a:rPr>
              <a:t>                                                                  </a:t>
            </a:r>
            <a:r>
              <a:rPr lang="en-US" i="1" dirty="0">
                <a:sym typeface="+mn-ea"/>
              </a:rPr>
              <a:t>Under the guidance of</a:t>
            </a:r>
            <a:endParaRPr lang="en-US" b="0" i="1" dirty="0"/>
          </a:p>
          <a:p>
            <a:pPr>
              <a:spcBef>
                <a:spcPts val="200"/>
              </a:spcBef>
            </a:pPr>
            <a:r>
              <a:rPr lang="en-IN" alt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 Sreedhar </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M.Tech</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Ph.D</a:t>
            </a: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a:spcBef>
                <a:spcPts val="200"/>
              </a:spcBef>
            </a:pPr>
            <a:r>
              <a:rPr lang="en-IN" dirty="0">
                <a:sym typeface="+mn-ea"/>
              </a:rPr>
              <a:t>                                                                  Assistant Professor</a:t>
            </a:r>
            <a:endParaRPr lang="en-IN" b="0" dirty="0"/>
          </a:p>
          <a:p>
            <a:endParaRPr lang="en-IN" altLang="en-US" dirty="0">
              <a:solidFill>
                <a:srgbClr val="002060"/>
              </a:solidFill>
            </a:endParaRPr>
          </a:p>
          <a:p>
            <a:r>
              <a:rPr lang="en-IN" altLang="en-US" sz="2000" dirty="0">
                <a:blipFill>
                  <a:blip r:embed="rId2"/>
                  <a:tile tx="0" ty="0" sx="100000" sy="100000" flip="none" algn="tl"/>
                </a:blipFill>
              </a:rPr>
              <a:t>                                                         </a:t>
            </a: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endParaRPr lang="en-IN" altLang="en-US" sz="2000" dirty="0">
              <a:blipFill>
                <a:blip r:embed="rId2"/>
                <a:tile tx="0" ty="0" sx="100000" sy="100000" flip="none" algn="tl"/>
              </a:blipFill>
            </a:endParaRPr>
          </a:p>
          <a:p>
            <a:r>
              <a:rPr lang="en-IN" altLang="en-US" sz="2000" dirty="0">
                <a:blipFill>
                  <a:blip r:embed="rId2"/>
                  <a:tile tx="0" ty="0" sx="100000" sy="100000" flip="none" algn="tl"/>
                </a:blipFill>
              </a:rPr>
              <a:t>                                    </a:t>
            </a:r>
            <a:r>
              <a:rPr lang="en-IN" altLang="en-US" sz="2000" dirty="0">
                <a:solidFill>
                  <a:srgbClr val="002060"/>
                </a:solidFill>
              </a:rPr>
              <a:t>Department of Emerging Technologies in Computer Science</a:t>
            </a:r>
          </a:p>
          <a:p>
            <a:r>
              <a:rPr lang="en-IN" altLang="en-US" sz="2000" dirty="0">
                <a:blipFill>
                  <a:blip r:embed="rId2"/>
                  <a:tile tx="0" ty="0" sx="100000" sy="100000" flip="none" algn="tl"/>
                </a:blipFill>
              </a:rPr>
              <a:t>                           </a:t>
            </a:r>
            <a:r>
              <a:rPr lang="en-IN" altLang="en-US" sz="2400" dirty="0">
                <a:solidFill>
                  <a:srgbClr val="002060"/>
                </a:solidFill>
              </a:rPr>
              <a:t>G. PULLA REDDY ENGINEERING COLLEGE(Autonomous):</a:t>
            </a:r>
            <a:endParaRPr lang="en-IN" altLang="en-US" sz="2000" dirty="0">
              <a:blipFill>
                <a:blip r:embed="rId2"/>
                <a:tile tx="0" ty="0" sx="100000" sy="100000" flip="none" algn="tl"/>
              </a:blipFill>
            </a:endParaRPr>
          </a:p>
          <a:p>
            <a:r>
              <a:rPr lang="en-IN" altLang="en-US" sz="2000" dirty="0">
                <a:blipFill>
                  <a:blip r:embed="rId2"/>
                  <a:tile tx="0" ty="0" sx="100000" sy="100000" flip="none" algn="tl"/>
                </a:blipFill>
              </a:rPr>
              <a:t>                                                                    KURNOOL</a:t>
            </a:r>
          </a:p>
          <a:p>
            <a:r>
              <a:rPr lang="en-IN" altLang="en-US" sz="2000" dirty="0">
                <a:blipFill>
                  <a:blip r:embed="rId2"/>
                  <a:tile tx="0" ty="0" sx="100000" sy="100000" flip="none" algn="tl"/>
                </a:blipFill>
              </a:rPr>
              <a:t>                                             (Affiliated to JNTUA, ANANTAPURAMU)</a:t>
            </a:r>
          </a:p>
        </p:txBody>
      </p:sp>
      <p:pic>
        <p:nvPicPr>
          <p:cNvPr id="6" name="Picture 5"/>
          <p:cNvPicPr>
            <a:picLocks noChangeAspect="1"/>
          </p:cNvPicPr>
          <p:nvPr/>
        </p:nvPicPr>
        <p:blipFill>
          <a:blip r:embed="rId3"/>
          <a:stretch>
            <a:fillRect/>
          </a:stretch>
        </p:blipFill>
        <p:spPr>
          <a:xfrm>
            <a:off x="5338445" y="3589020"/>
            <a:ext cx="1466850" cy="1568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4"/>
          <p:cNvSpPr/>
          <p:nvPr/>
        </p:nvSpPr>
        <p:spPr>
          <a:xfrm>
            <a:off x="0" y="11430"/>
            <a:ext cx="12192000" cy="1049655"/>
          </a:xfrm>
          <a:prstGeom prst="rect">
            <a:avLst/>
          </a:prstGeom>
          <a:solidFill>
            <a:srgbClr val="0070C0"/>
          </a:solidFill>
        </p:spPr>
        <p:style>
          <a:lnRef idx="0">
            <a:srgbClr val="FFFFFF"/>
          </a:lnRef>
          <a:fillRef idx="1">
            <a:schemeClr val="accent1"/>
          </a:fillRef>
          <a:effectRef idx="0">
            <a:srgbClr val="FFFFFF"/>
          </a:effectRef>
          <a:fontRef idx="minor">
            <a:schemeClr val="dk1"/>
          </a:fontRef>
        </p:style>
        <p:txBody>
          <a:bodyPr rtlCol="0" anchor="ctr"/>
          <a:lstStyle/>
          <a:p>
            <a:pPr>
              <a:lnSpc>
                <a:spcPct val="90000"/>
              </a:lnSpc>
            </a:pPr>
            <a:r>
              <a:rPr lang="en-US" sz="3600" b="1" spc="-1" dirty="0">
                <a:solidFill>
                  <a:srgbClr val="FFFFFF"/>
                </a:solidFill>
                <a:latin typeface="Times New Roman" panose="02020603050405020304"/>
                <a:sym typeface="+mn-ea"/>
              </a:rPr>
              <a:t>Contents</a:t>
            </a:r>
            <a:endParaRPr lang="en-US" sz="3600" b="1"/>
          </a:p>
        </p:txBody>
      </p:sp>
      <p:sp>
        <p:nvSpPr>
          <p:cNvPr id="7" name="Text Box 6"/>
          <p:cNvSpPr txBox="1"/>
          <p:nvPr/>
        </p:nvSpPr>
        <p:spPr>
          <a:xfrm>
            <a:off x="140970" y="1165411"/>
            <a:ext cx="4064000" cy="5305727"/>
          </a:xfrm>
          <a:prstGeom prst="rect">
            <a:avLst/>
          </a:prstGeom>
          <a:noFill/>
        </p:spPr>
        <p:txBody>
          <a:bodyPr wrap="square" rtlCol="0">
            <a:noAutofit/>
          </a:bodyPr>
          <a:lstStyle/>
          <a:p>
            <a:pPr marL="285750" indent="-285750">
              <a:lnSpc>
                <a:spcPct val="150000"/>
              </a:lnSpc>
              <a:buFont typeface="Wingdings" panose="05000000000000000000" charset="0"/>
              <a:buChar char="Ø"/>
            </a:pPr>
            <a:r>
              <a:rPr lang="en-US" sz="2000" spc="-1" dirty="0">
                <a:solidFill>
                  <a:srgbClr val="000000"/>
                </a:solidFill>
                <a:latin typeface="Times New Roman" panose="02020603050405020304"/>
                <a:sym typeface="+mn-ea"/>
              </a:rPr>
              <a:t>Abstract</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Introduction</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Objectives</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Literature Survey</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Existing System</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Proposed System</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Algorithms &amp; Planning</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Design</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Outputs</a:t>
            </a:r>
          </a:p>
          <a:p>
            <a:pPr marL="285750" indent="-285750">
              <a:lnSpc>
                <a:spcPct val="150000"/>
              </a:lnSpc>
              <a:buFont typeface="Wingdings" panose="05000000000000000000" charset="0"/>
              <a:buChar char="Ø"/>
            </a:pPr>
            <a:r>
              <a:rPr lang="en-IN" altLang="en-US" sz="2000" spc="-1" dirty="0">
                <a:solidFill>
                  <a:srgbClr val="000000"/>
                </a:solidFill>
                <a:latin typeface="Times New Roman" panose="02020603050405020304"/>
                <a:sym typeface="+mn-ea"/>
              </a:rPr>
              <a:t>Paper Publication</a:t>
            </a:r>
          </a:p>
          <a:p>
            <a:pPr marL="285750" indent="-285750">
              <a:lnSpc>
                <a:spcPct val="150000"/>
              </a:lnSpc>
              <a:buFont typeface="Wingdings" panose="05000000000000000000" charset="0"/>
              <a:buChar char="Ø"/>
            </a:pPr>
            <a:r>
              <a:rPr lang="en-IN" sz="2000" b="0" strike="noStrike" spc="-1" dirty="0">
                <a:solidFill>
                  <a:srgbClr val="000000"/>
                </a:solidFill>
                <a:latin typeface="Times New Roman" panose="02020603050405020304"/>
                <a:sym typeface="+mn-ea"/>
              </a:rPr>
              <a:t>References</a:t>
            </a:r>
            <a:endParaRPr lang="en-US" sz="2000" b="0" strike="noStrike" spc="-1" dirty="0">
              <a:solidFill>
                <a:srgbClr val="000000"/>
              </a:solidFill>
              <a:latin typeface="Times New Roman" panose="02020603050405020304"/>
            </a:endParaRPr>
          </a:p>
          <a:p>
            <a:pPr marL="285750" indent="-285750">
              <a:buFont typeface="Wingdings" panose="05000000000000000000" charset="0"/>
              <a:buChar char="Ø"/>
            </a:pPr>
            <a:endParaRPr lang="en-US" sz="3600" b="0" strike="noStrike" spc="-1" dirty="0">
              <a:solidFill>
                <a:srgbClr val="000000"/>
              </a:solidFill>
              <a:latin typeface="Times New Roman" panose="02020603050405020304"/>
            </a:endParaRPr>
          </a:p>
          <a:p>
            <a:pPr indent="0">
              <a:buFont typeface="Wingdings" panose="05000000000000000000" charset="0"/>
              <a:buNone/>
            </a:pPr>
            <a:endParaRPr lang="en-IN" altLang="en-US" sz="3600" dirty="0">
              <a:latin typeface="Times New Roman" panose="02020603050405020304" charset="0"/>
              <a:cs typeface="Times New Roman" panose="02020603050405020304" charset="0"/>
            </a:endParaRPr>
          </a:p>
        </p:txBody>
      </p:sp>
      <p:sp>
        <p:nvSpPr>
          <p:cNvPr id="2" name="Rectangles 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4" name="Rectangles 3"/>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6" name="Rectangles 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2</a:t>
            </a:r>
          </a:p>
        </p:txBody>
      </p:sp>
      <p:sp>
        <p:nvSpPr>
          <p:cNvPr id="9" name="Rectangles 8"/>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67377"/>
            <a:ext cx="12192000" cy="1143067"/>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sz="3200" b="1" spc="-1" dirty="0">
              <a:solidFill>
                <a:schemeClr val="bg1"/>
              </a:solidFill>
              <a:latin typeface="Times New Roman" panose="02020603050405020304"/>
              <a:sym typeface="+mn-ea"/>
            </a:endParaRPr>
          </a:p>
          <a:p>
            <a:pPr algn="ctr"/>
            <a:r>
              <a:rPr lang="en-US" sz="3200" b="1" spc="-1" dirty="0">
                <a:solidFill>
                  <a:schemeClr val="bg1"/>
                </a:solidFill>
                <a:latin typeface="Times New Roman" panose="02020603050405020304"/>
                <a:sym typeface="+mn-ea"/>
              </a:rPr>
              <a:t>Abstract</a:t>
            </a:r>
            <a:endParaRPr lang="en-US" sz="3200" b="1" strike="noStrike" spc="-1" dirty="0">
              <a:solidFill>
                <a:schemeClr val="bg1"/>
              </a:solidFill>
              <a:latin typeface="Calibri" panose="020F0502020204030204"/>
            </a:endParaRPr>
          </a:p>
          <a:p>
            <a:pPr algn="ctr"/>
            <a:endParaRPr lang="en-US" sz="3200" b="1" strike="noStrike" spc="-1" dirty="0">
              <a:solidFill>
                <a:schemeClr val="bg1"/>
              </a:solidFill>
              <a:latin typeface="Calibri" panose="020F0502020204030204"/>
            </a:endParaRPr>
          </a:p>
        </p:txBody>
      </p:sp>
      <p:sp>
        <p:nvSpPr>
          <p:cNvPr id="5" name="Text Box 4"/>
          <p:cNvSpPr txBox="1"/>
          <p:nvPr/>
        </p:nvSpPr>
        <p:spPr>
          <a:xfrm>
            <a:off x="13335" y="1279525"/>
            <a:ext cx="11825605" cy="5347335"/>
          </a:xfrm>
          <a:prstGeom prst="rect">
            <a:avLst/>
          </a:prstGeom>
          <a:noFill/>
        </p:spPr>
        <p:txBody>
          <a:bodyPr wrap="square" rtlCol="0">
            <a:noAutofit/>
          </a:bodyPr>
          <a:lstStyle/>
          <a:p>
            <a:pPr marL="285750" indent="-285750" algn="just">
              <a:lnSpc>
                <a:spcPct val="100000"/>
              </a:lnSpc>
              <a:buFont typeface="Wingdings" panose="05000000000000000000" charset="0"/>
              <a:buChar char="Ø"/>
            </a:pPr>
            <a:r>
              <a:rPr lang="en-IN" sz="2000" dirty="0">
                <a:solidFill>
                  <a:srgbClr val="000000"/>
                </a:solidFill>
                <a:latin typeface="Times New Roman" panose="02020603050405020304" charset="0"/>
                <a:ea typeface="Times New Roman" panose="02020603050405020304" charset="0"/>
              </a:rPr>
              <a:t>A</a:t>
            </a:r>
            <a:r>
              <a:rPr lang="en-IN" sz="2000" dirty="0">
                <a:solidFill>
                  <a:srgbClr val="000000"/>
                </a:solidFill>
                <a:effectLst/>
                <a:latin typeface="Times New Roman" panose="02020603050405020304" charset="0"/>
                <a:ea typeface="Times New Roman" panose="02020603050405020304" charset="0"/>
              </a:rPr>
              <a:t>n all-around health platform presented here in the proposal to help the users identify potential health conditions, access relevant advice on medication, and, accordingly, manage their overall well-being effectively. This platform applies machine learning algorithms that help adequately predict the chances of diseases, given when users report symptoms. </a:t>
            </a:r>
          </a:p>
          <a:p>
            <a:pPr marL="285750" indent="-285750" algn="just">
              <a:lnSpc>
                <a:spcPct val="100000"/>
              </a:lnSpc>
              <a:buFont typeface="Wingdings" panose="05000000000000000000" charset="0"/>
              <a:buChar char="Ø"/>
            </a:pPr>
            <a:endParaRPr lang="en-IN" sz="2000" dirty="0">
              <a:solidFill>
                <a:srgbClr val="000000"/>
              </a:solidFill>
              <a:effectLst/>
              <a:latin typeface="Times New Roman" panose="02020603050405020304" charset="0"/>
              <a:ea typeface="Times New Roman" panose="02020603050405020304" charset="0"/>
            </a:endParaRPr>
          </a:p>
          <a:p>
            <a:pPr marL="285750" indent="-285750" algn="just">
              <a:lnSpc>
                <a:spcPct val="100000"/>
              </a:lnSpc>
              <a:buFont typeface="Wingdings" panose="05000000000000000000" charset="0"/>
              <a:buChar char="Ø"/>
            </a:pPr>
            <a:r>
              <a:rPr lang="en-IN" sz="2000" dirty="0">
                <a:solidFill>
                  <a:srgbClr val="000000"/>
                </a:solidFill>
                <a:effectLst/>
                <a:latin typeface="Times New Roman" panose="02020603050405020304" charset="0"/>
                <a:ea typeface="Times New Roman" panose="02020603050405020304" charset="0"/>
              </a:rPr>
              <a:t>The patient portal will also be provided- administered as a user-friendly point of access for secure medical history storage, medication tracking, personalized reminders, and health goal management. This site further empowers user engagement as well as improves medication adherence with functionalities that track intake of medication and patterns of adherence.</a:t>
            </a:r>
          </a:p>
          <a:p>
            <a:pPr marL="285750" indent="-285750" algn="just">
              <a:lnSpc>
                <a:spcPct val="100000"/>
              </a:lnSpc>
              <a:buFont typeface="Wingdings" panose="05000000000000000000" charset="0"/>
              <a:buChar char="Ø"/>
            </a:pPr>
            <a:endParaRPr lang="en-IN" sz="2000" dirty="0">
              <a:solidFill>
                <a:srgbClr val="000000"/>
              </a:solidFill>
              <a:effectLst/>
              <a:latin typeface="Times New Roman" panose="02020603050405020304" charset="0"/>
              <a:ea typeface="Times New Roman" panose="02020603050405020304" charset="0"/>
            </a:endParaRPr>
          </a:p>
          <a:p>
            <a:pPr marL="285750" indent="-285750" algn="just">
              <a:lnSpc>
                <a:spcPct val="100000"/>
              </a:lnSpc>
              <a:buFont typeface="Wingdings" panose="05000000000000000000" charset="0"/>
              <a:buChar char="Ø"/>
            </a:pPr>
            <a:r>
              <a:rPr lang="en-IN" sz="2000" dirty="0">
                <a:solidFill>
                  <a:srgbClr val="000000"/>
                </a:solidFill>
                <a:effectLst/>
                <a:latin typeface="Times New Roman" panose="02020603050405020304" charset="0"/>
                <a:ea typeface="Times New Roman" panose="02020603050405020304" charset="0"/>
              </a:rPr>
              <a:t> It also integrates local pharmacies to check medication availability. The integration of both functionalities should enable people to take a more active role in healthcare, which might lead to improved medication adherence and outcomes generally in healthcare. </a:t>
            </a:r>
            <a:endParaRPr lang="en-US" sz="2000" dirty="0">
              <a:latin typeface="Times New Roman" panose="02020603050405020304" charset="0"/>
              <a:cs typeface="Times New Roman" panose="02020603050405020304" charset="0"/>
            </a:endParaRPr>
          </a:p>
        </p:txBody>
      </p:sp>
      <p:sp>
        <p:nvSpPr>
          <p:cNvPr id="2" name="Rectangles 1"/>
          <p:cNvSpPr/>
          <p:nvPr/>
        </p:nvSpPr>
        <p:spPr>
          <a:xfrm>
            <a:off x="-635" y="6633845"/>
            <a:ext cx="468630" cy="217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16" name="Rectangles 1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73255"/>
            <a:ext cx="12192000" cy="124894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PROBLEM STATEMENT</a:t>
            </a:r>
          </a:p>
        </p:txBody>
      </p:sp>
      <p:sp>
        <p:nvSpPr>
          <p:cNvPr id="2" name="Text Box 1"/>
          <p:cNvSpPr txBox="1"/>
          <p:nvPr/>
        </p:nvSpPr>
        <p:spPr>
          <a:xfrm>
            <a:off x="96520" y="1179195"/>
            <a:ext cx="11995785" cy="549719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400">
                <a:latin typeface="Times New Roman" panose="02020603050405020304" charset="0"/>
                <a:cs typeface="Times New Roman" panose="02020603050405020304" charset="0"/>
              </a:rPr>
              <a:t>The problem statement for the proposed project is to improve the accessibility, accuracy, and efficiency of healthcare by developing a machine learning-based disease prediction and drug recommendation system.This system aims to address the challenges faced by patients in accessing timely and accurate healthcare information, especially in rural areas where medical experts may be scarce.</a:t>
            </a:r>
          </a:p>
          <a:p>
            <a:pPr marL="285750" indent="-285750" algn="just">
              <a:lnSpc>
                <a:spcPct val="150000"/>
              </a:lnSpc>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endParaRPr lang="en-US" sz="24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9" name="Rectangles 8"/>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16" name="Rectangles 1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
            <a:ext cx="12146280" cy="101854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INTRODUCTION</a:t>
            </a:r>
          </a:p>
        </p:txBody>
      </p:sp>
      <p:sp>
        <p:nvSpPr>
          <p:cNvPr id="5" name="Text Box 4"/>
          <p:cNvSpPr txBox="1"/>
          <p:nvPr/>
        </p:nvSpPr>
        <p:spPr>
          <a:xfrm>
            <a:off x="205105" y="1202690"/>
            <a:ext cx="11941810" cy="5473700"/>
          </a:xfrm>
          <a:prstGeom prst="rect">
            <a:avLst/>
          </a:prstGeom>
          <a:noFill/>
        </p:spPr>
        <p:txBody>
          <a:bodyPr wrap="square" rtlCol="0">
            <a:noAutofit/>
          </a:bodyPr>
          <a:lstStyle/>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A vast number of people rely on the internet for health advice, with about 60% of adults reporting</a:t>
            </a:r>
          </a:p>
          <a:p>
            <a:pPr algn="just"/>
            <a:r>
              <a:rPr lang="en-US" sz="2000">
                <a:latin typeface="Times New Roman" panose="02020603050405020304" charset="0"/>
                <a:cs typeface="Times New Roman" panose="02020603050405020304" charset="0"/>
              </a:rPr>
              <a:t>     searching for healthcare topics online. </a:t>
            </a:r>
          </a:p>
          <a:p>
            <a:pPr algn="just"/>
            <a:endParaRPr 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This system is meant to fill that gap through recommending the right medication for the user, based on the symptoms, medical history, and sentiment analysis,thereby improving decision making in health care and reducing prescription errors.</a:t>
            </a:r>
            <a:endParaRPr lang="en-US"/>
          </a:p>
          <a:p>
            <a:pPr algn="just"/>
            <a:endParaRPr lang="en-US"/>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Literature Survey</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Machine learning (ML) is revolutionizing drug discovery and development as it proffers tools enhancing good decision making in complex, data-driven environments. It has emerged as a successful tool for target verification, predictive biomarker identification, and virtual pathology analysis. </a:t>
            </a:r>
          </a:p>
          <a:p>
            <a:pPr indent="0" algn="just">
              <a:buFont typeface="Wingdings" panose="05000000000000000000" charset="0"/>
              <a:buNone/>
            </a:pPr>
            <a:endParaRPr lang="en-US" sz="2000">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Nevertheless, there are challenges, especially concerning the interpretability and repeatability of ML results, which renders its more practical utility somewhat limited. Further improvements along these lines will allow ML to further facilitate drug discovery while reducing the generally high failure rates in drug development.</a:t>
            </a:r>
          </a:p>
          <a:p>
            <a:pPr algn="just"/>
            <a:endParaRPr lang="en-US" sz="20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2" name="Rectangles 1"/>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1431"/>
            <a:ext cx="12192000" cy="106426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800" b="1">
                <a:latin typeface="Times New Roman" panose="02020603050405020304" charset="0"/>
                <a:cs typeface="Times New Roman" panose="02020603050405020304" charset="0"/>
              </a:rPr>
              <a:t>OBJECTIVES</a:t>
            </a:r>
          </a:p>
        </p:txBody>
      </p:sp>
      <p:sp>
        <p:nvSpPr>
          <p:cNvPr id="2" name="Text Box 1"/>
          <p:cNvSpPr txBox="1"/>
          <p:nvPr/>
        </p:nvSpPr>
        <p:spPr>
          <a:xfrm>
            <a:off x="185420" y="1223645"/>
            <a:ext cx="11768455" cy="5360670"/>
          </a:xfrm>
          <a:prstGeom prst="rect">
            <a:avLst/>
          </a:prstGeom>
          <a:noFill/>
        </p:spPr>
        <p:txBody>
          <a:bodyPr wrap="square" rtlCol="0">
            <a:noAutofit/>
          </a:bodyPr>
          <a:lstStyle/>
          <a:p>
            <a:pPr marL="285750" indent="-285750">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lgn="just">
              <a:buFont typeface="Wingdings" panose="05000000000000000000" charset="0"/>
              <a:buChar char="Ø"/>
            </a:pPr>
            <a:r>
              <a:rPr lang="en-US" sz="2400">
                <a:latin typeface="Times New Roman" panose="02020603050405020304" charset="0"/>
                <a:cs typeface="Times New Roman" panose="02020603050405020304" charset="0"/>
              </a:rPr>
              <a:t>Develop a Patient Portal: Create an intuitive platform where users cansecurely store their medical history, track current medications, and receive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personalized reminders for medication schedules and refills.</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lgn="just">
              <a:buFont typeface="Wingdings" panose="05000000000000000000" charset="0"/>
              <a:buChar char="Ø"/>
            </a:pPr>
            <a:r>
              <a:rPr lang="en-US" sz="2400">
                <a:latin typeface="Times New Roman" panose="02020603050405020304" charset="0"/>
                <a:cs typeface="Times New Roman" panose="02020603050405020304" charset="0"/>
              </a:rPr>
              <a:t>Implement User Interaction Features: Enable functionalities for users to</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record their medication intake (taken, postponed, or skipped) to improve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adherence tracking and personalized recommendations.</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sz="2400">
                <a:latin typeface="Times New Roman" panose="02020603050405020304" charset="0"/>
                <a:cs typeface="Times New Roman" panose="02020603050405020304" charset="0"/>
              </a:rPr>
              <a:t>Local Pharmacy Integration: Integrate a feature that uses the user’s pincode</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to suggest nearby medical shops, ensuring easy access to prescribed</a:t>
            </a:r>
            <a:r>
              <a:rPr lang="en-IN" altLang="en-US" sz="2400">
                <a:latin typeface="Times New Roman" panose="02020603050405020304" charset="0"/>
                <a:cs typeface="Times New Roman" panose="02020603050405020304" charset="0"/>
              </a:rPr>
              <a:t> </a:t>
            </a:r>
            <a:r>
              <a:rPr lang="en-US" sz="2400">
                <a:latin typeface="Times New Roman" panose="02020603050405020304" charset="0"/>
                <a:cs typeface="Times New Roman" panose="02020603050405020304" charset="0"/>
              </a:rPr>
              <a:t>medications and enhancing patient convenience.</a:t>
            </a:r>
          </a:p>
          <a:p>
            <a:pPr marL="285750" indent="-285750">
              <a:buFont typeface="Wingdings" panose="05000000000000000000" charset="0"/>
              <a:buChar char="Ø"/>
            </a:pPr>
            <a:endParaRPr lang="en-US" sz="24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3" name="Rectangles 2"/>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44379"/>
            <a:ext cx="12192000" cy="1197209"/>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LITERATURE SURVEY</a:t>
            </a:r>
          </a:p>
        </p:txBody>
      </p:sp>
      <p:sp>
        <p:nvSpPr>
          <p:cNvPr id="5" name="Text Box 4"/>
          <p:cNvSpPr txBox="1"/>
          <p:nvPr/>
        </p:nvSpPr>
        <p:spPr>
          <a:xfrm>
            <a:off x="193675" y="1236980"/>
            <a:ext cx="11734165" cy="5416550"/>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Garcia et al.</a:t>
            </a:r>
            <a:r>
              <a:rPr lang="en-US" sz="2000">
                <a:latin typeface="Times New Roman" panose="02020603050405020304" charset="0"/>
                <a:cs typeface="Times New Roman" panose="02020603050405020304" charset="0"/>
              </a:rPr>
              <a:t> (2019) focused on developing a drug recommendation system based on natural language processing (NLP), utilizing </a:t>
            </a:r>
            <a:r>
              <a:rPr lang="en-US" sz="2000" b="1">
                <a:latin typeface="Times New Roman" panose="02020603050405020304" charset="0"/>
                <a:cs typeface="Times New Roman" panose="02020603050405020304" charset="0"/>
              </a:rPr>
              <a:t>TF-IDF</a:t>
            </a:r>
            <a:r>
              <a:rPr lang="en-US" sz="2000">
                <a:latin typeface="Times New Roman" panose="02020603050405020304" charset="0"/>
                <a:cs typeface="Times New Roman" panose="02020603050405020304" charset="0"/>
              </a:rPr>
              <a:t> (Term Frequency-Inverse Document Frequency) and Vader sentiment analysis. By analyzing patient reviews, their system assessed drug effectiveness and side effects, which enabled personalized medication suggestions based on user sentiment analysis and review data.</a:t>
            </a:r>
          </a:p>
          <a:p>
            <a:pPr indent="0" algn="just">
              <a:lnSpc>
                <a:spcPct val="150000"/>
              </a:lnSpc>
              <a:buFont typeface="Wingdings" panose="05000000000000000000" charset="0"/>
              <a:buNone/>
            </a:pPr>
            <a:endParaRPr lang="en-US" sz="2000">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Chen et al.</a:t>
            </a:r>
            <a:r>
              <a:rPr lang="en-US" sz="2000">
                <a:latin typeface="Times New Roman" panose="02020603050405020304" charset="0"/>
                <a:cs typeface="Times New Roman" panose="02020603050405020304" charset="0"/>
              </a:rPr>
              <a:t> (2021) conducted sentiment analysis on drug reviews to gauge the effectiveness and side effects reported by users. Their research utilized </a:t>
            </a:r>
            <a:r>
              <a:rPr lang="en-US" sz="2000" b="1">
                <a:latin typeface="Times New Roman" panose="02020603050405020304" charset="0"/>
                <a:cs typeface="Times New Roman" panose="02020603050405020304" charset="0"/>
              </a:rPr>
              <a:t>natural language processing (NLP)</a:t>
            </a:r>
            <a:r>
              <a:rPr lang="en-US" sz="2000">
                <a:latin typeface="Times New Roman" panose="02020603050405020304" charset="0"/>
                <a:cs typeface="Times New Roman" panose="02020603050405020304" charset="0"/>
              </a:rPr>
              <a:t> techniques to extract insights from reviews, demonstrating that user feedback can significantly inform the decision-making process for prescribing drugs. The study emphasized the relevance of opinion mining in improving patient care and ensuring that healthcare providers are equipped with the most recent patient experiences.</a:t>
            </a:r>
          </a:p>
          <a:p>
            <a:pPr marL="285750" indent="-285750" algn="just">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lgn="just">
              <a:buFont typeface="Wingdings" panose="05000000000000000000" charset="0"/>
              <a:buChar char="Ø"/>
            </a:pPr>
            <a:endParaRPr lang="en-US" sz="2000">
              <a:latin typeface="Times New Roman" panose="02020603050405020304" charset="0"/>
              <a:cs typeface="Times New Roman" panose="02020603050405020304" charset="0"/>
            </a:endParaRP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2" name="Rectangles 1"/>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635" y="1"/>
            <a:ext cx="12179935" cy="108712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IN" altLang="en-US" sz="2400" b="1">
              <a:latin typeface="Times New Roman" panose="02020603050405020304" charset="0"/>
              <a:cs typeface="Times New Roman" panose="02020603050405020304" charset="0"/>
              <a:sym typeface="+mn-ea"/>
            </a:endParaRPr>
          </a:p>
          <a:p>
            <a:pPr algn="ctr"/>
            <a:r>
              <a:rPr lang="en-IN" altLang="en-US" sz="2400" b="1">
                <a:latin typeface="Times New Roman" panose="02020603050405020304" charset="0"/>
                <a:cs typeface="Times New Roman" panose="02020603050405020304" charset="0"/>
                <a:sym typeface="+mn-ea"/>
              </a:rPr>
              <a:t>LITERATURE SURVEY</a:t>
            </a:r>
            <a:endParaRPr lang="en-IN" altLang="en-US" sz="2400" b="1">
              <a:latin typeface="Times New Roman" panose="02020603050405020304" charset="0"/>
              <a:cs typeface="Times New Roman" panose="02020603050405020304" charset="0"/>
            </a:endParaRPr>
          </a:p>
          <a:p>
            <a:pPr algn="ctr"/>
            <a:endParaRPr lang="en-US" sz="2400" b="1"/>
          </a:p>
        </p:txBody>
      </p:sp>
      <p:sp>
        <p:nvSpPr>
          <p:cNvPr id="3" name="Text Box 2"/>
          <p:cNvSpPr txBox="1"/>
          <p:nvPr/>
        </p:nvSpPr>
        <p:spPr>
          <a:xfrm>
            <a:off x="192405" y="1246505"/>
            <a:ext cx="11791950" cy="533209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Lee et al.</a:t>
            </a:r>
            <a:r>
              <a:rPr lang="en-US" sz="2000">
                <a:latin typeface="Times New Roman" panose="02020603050405020304" charset="0"/>
                <a:cs typeface="Times New Roman" panose="02020603050405020304" charset="0"/>
              </a:rPr>
              <a:t> (2023) implemented a recommendation system using the </a:t>
            </a:r>
            <a:r>
              <a:rPr lang="en-US" sz="2000" b="1">
                <a:latin typeface="Times New Roman" panose="02020603050405020304" charset="0"/>
                <a:cs typeface="Times New Roman" panose="02020603050405020304" charset="0"/>
              </a:rPr>
              <a:t>R library “recommenderlab” </a:t>
            </a:r>
            <a:r>
              <a:rPr lang="en-US" sz="2000">
                <a:latin typeface="Times New Roman" panose="02020603050405020304" charset="0"/>
                <a:cs typeface="Times New Roman" panose="02020603050405020304" charset="0"/>
              </a:rPr>
              <a:t>to provide personalized suggestions for medications based on user ratings and health conditions. Their system demonstrated that automated recommendations can improve patient outcomes by streamlining the medication selection process.</a:t>
            </a:r>
          </a:p>
          <a:p>
            <a:pPr marL="285750" indent="-285750" algn="just">
              <a:lnSpc>
                <a:spcPct val="150000"/>
              </a:lnSpc>
              <a:buFont typeface="Wingdings" panose="05000000000000000000" charset="0"/>
              <a:buChar char="Ø"/>
            </a:pPr>
            <a:r>
              <a:rPr lang="en-US" sz="2000" b="1">
                <a:latin typeface="Times New Roman" panose="02020603050405020304" charset="0"/>
                <a:cs typeface="Times New Roman" panose="02020603050405020304" charset="0"/>
              </a:rPr>
              <a:t>Singh et al</a:t>
            </a:r>
            <a:r>
              <a:rPr lang="en-US" sz="2000">
                <a:latin typeface="Times New Roman" panose="02020603050405020304" charset="0"/>
                <a:cs typeface="Times New Roman" panose="02020603050405020304" charset="0"/>
              </a:rPr>
              <a:t>. (2024) explored advanced hybrid approaches for enhancing recommendation accuracy in medicine selection. They emphasized the effectiveness of machine learning techniques, particularly how their </a:t>
            </a:r>
            <a:r>
              <a:rPr lang="en-US" sz="2000" b="1">
                <a:latin typeface="Times New Roman" panose="02020603050405020304" charset="0"/>
                <a:cs typeface="Times New Roman" panose="02020603050405020304" charset="0"/>
              </a:rPr>
              <a:t>hybrid</a:t>
            </a:r>
            <a:r>
              <a:rPr lang="en-US" sz="2000">
                <a:latin typeface="Times New Roman" panose="02020603050405020304" charset="0"/>
                <a:cs typeface="Times New Roman" panose="02020603050405020304" charset="0"/>
              </a:rPr>
              <a:t> </a:t>
            </a:r>
            <a:r>
              <a:rPr lang="en-US" sz="2000" b="1">
                <a:latin typeface="Times New Roman" panose="02020603050405020304" charset="0"/>
                <a:cs typeface="Times New Roman" panose="02020603050405020304" charset="0"/>
              </a:rPr>
              <a:t>recommendation algorithm</a:t>
            </a:r>
            <a:r>
              <a:rPr lang="en-US" sz="2000">
                <a:latin typeface="Times New Roman" panose="02020603050405020304" charset="0"/>
                <a:cs typeface="Times New Roman" panose="02020603050405020304" charset="0"/>
              </a:rPr>
              <a:t> combines user ratings and contextual data to provide tailored suggestions.</a:t>
            </a:r>
          </a:p>
          <a:p>
            <a:pPr marL="285750" indent="-285750" algn="just">
              <a:lnSpc>
                <a:spcPct val="150000"/>
              </a:lnSpc>
              <a:buFont typeface="Wingdings" panose="05000000000000000000" charset="0"/>
              <a:buChar char="Ø"/>
            </a:pPr>
            <a:r>
              <a:rPr lang="en-IN" altLang="en-US" sz="2000" b="1">
                <a:latin typeface="Times New Roman" panose="02020603050405020304" charset="0"/>
                <a:cs typeface="Times New Roman" panose="02020603050405020304" charset="0"/>
              </a:rPr>
              <a:t>Khan</a:t>
            </a:r>
            <a:r>
              <a:rPr lang="en-US" sz="2000" b="1">
                <a:latin typeface="Times New Roman" panose="02020603050405020304" charset="0"/>
                <a:cs typeface="Times New Roman" panose="02020603050405020304" charset="0"/>
              </a:rPr>
              <a:t> et al.</a:t>
            </a:r>
            <a:r>
              <a:rPr lang="en-US" sz="2000">
                <a:latin typeface="Times New Roman" panose="02020603050405020304" charset="0"/>
                <a:cs typeface="Times New Roman" panose="02020603050405020304" charset="0"/>
              </a:rPr>
              <a:t> (2022) implemented a drug recommendation system that combines </a:t>
            </a:r>
            <a:r>
              <a:rPr lang="en-US" sz="2000" b="1">
                <a:latin typeface="Times New Roman" panose="02020603050405020304" charset="0"/>
                <a:cs typeface="Times New Roman" panose="02020603050405020304" charset="0"/>
              </a:rPr>
              <a:t>support vector machines</a:t>
            </a:r>
            <a:r>
              <a:rPr lang="en-US" sz="2000">
                <a:latin typeface="Times New Roman" panose="02020603050405020304" charset="0"/>
                <a:cs typeface="Times New Roman" panose="02020603050405020304" charset="0"/>
              </a:rPr>
              <a:t> </a:t>
            </a:r>
            <a:r>
              <a:rPr lang="en-US" sz="2000" b="1">
                <a:latin typeface="Times New Roman" panose="02020603050405020304" charset="0"/>
                <a:cs typeface="Times New Roman" panose="02020603050405020304" charset="0"/>
              </a:rPr>
              <a:t>(SVM)</a:t>
            </a:r>
            <a:r>
              <a:rPr lang="en-US" sz="2000">
                <a:latin typeface="Times New Roman" panose="02020603050405020304" charset="0"/>
                <a:cs typeface="Times New Roman" panose="02020603050405020304" charset="0"/>
              </a:rPr>
              <a:t> with a knowledge graph, achieving notable performance improvements in identifying suitable medications based on user history.</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4" name="Rectangles 3"/>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1" y="11431"/>
            <a:ext cx="12171045" cy="1087120"/>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IN" altLang="en-US" sz="2400" spc="-1" dirty="0">
              <a:solidFill>
                <a:schemeClr val="bg1"/>
              </a:solidFill>
              <a:latin typeface="Times New Roman" panose="02020603050405020304"/>
              <a:sym typeface="+mn-ea"/>
            </a:endParaRPr>
          </a:p>
          <a:p>
            <a:pPr algn="ctr"/>
            <a:r>
              <a:rPr lang="en-IN" altLang="en-US" sz="2400" b="1" spc="-1" dirty="0">
                <a:solidFill>
                  <a:schemeClr val="bg1"/>
                </a:solidFill>
                <a:latin typeface="Times New Roman" panose="02020603050405020304"/>
                <a:sym typeface="+mn-ea"/>
              </a:rPr>
              <a:t>E</a:t>
            </a:r>
            <a:r>
              <a:rPr lang="en-US" altLang="en-IN" sz="2400" b="1" spc="-1" dirty="0">
                <a:solidFill>
                  <a:schemeClr val="bg1"/>
                </a:solidFill>
                <a:latin typeface="Times New Roman" panose="02020603050405020304"/>
                <a:sym typeface="+mn-ea"/>
              </a:rPr>
              <a:t>XISTING SYSTEM</a:t>
            </a:r>
            <a:endParaRPr lang="en-IN" altLang="en-US" sz="2400" b="1" spc="-1" dirty="0">
              <a:solidFill>
                <a:schemeClr val="bg1"/>
              </a:solidFill>
              <a:latin typeface="Times New Roman" panose="02020603050405020304"/>
              <a:sym typeface="+mn-ea"/>
            </a:endParaRPr>
          </a:p>
          <a:p>
            <a:pPr algn="ctr"/>
            <a:endParaRPr lang="en-IN" altLang="en-US" sz="2400" b="1" spc="-1" dirty="0">
              <a:solidFill>
                <a:schemeClr val="bg1"/>
              </a:solidFill>
              <a:latin typeface="Times New Roman" panose="02020603050405020304"/>
              <a:sym typeface="+mn-ea"/>
            </a:endParaRPr>
          </a:p>
        </p:txBody>
      </p:sp>
      <p:sp>
        <p:nvSpPr>
          <p:cNvPr id="6" name="Text Box 5"/>
          <p:cNvSpPr txBox="1"/>
          <p:nvPr/>
        </p:nvSpPr>
        <p:spPr>
          <a:xfrm>
            <a:off x="227965" y="1259205"/>
            <a:ext cx="11746230" cy="5302885"/>
          </a:xfrm>
          <a:prstGeom prst="rect">
            <a:avLst/>
          </a:prstGeom>
          <a:noFill/>
        </p:spPr>
        <p:txBody>
          <a:bodyPr wrap="square" rtlCol="0">
            <a:noAutofit/>
          </a:bodyPr>
          <a:lstStyle/>
          <a:p>
            <a:pPr marL="285750" indent="-285750" algn="just">
              <a:lnSpc>
                <a:spcPct val="150000"/>
              </a:lnSpc>
              <a:buFont typeface="Wingdings" panose="05000000000000000000" charset="0"/>
              <a:buChar char="Ø"/>
            </a:pPr>
            <a:r>
              <a:rPr lang="en-US" sz="2000">
                <a:latin typeface="Times New Roman" panose="02020603050405020304" charset="0"/>
                <a:cs typeface="Times New Roman" panose="02020603050405020304" charset="0"/>
              </a:rPr>
              <a:t>In the earlier part, Mohammad Mehedi Hassan et al. developed an existing system </a:t>
            </a:r>
            <a:r>
              <a:rPr lang="en-US" sz="2000" b="1">
                <a:latin typeface="Times New Roman" panose="02020603050405020304" charset="0"/>
                <a:cs typeface="Times New Roman" panose="02020603050405020304" charset="0"/>
              </a:rPr>
              <a:t>CADRE</a:t>
            </a:r>
            <a:r>
              <a:rPr lang="en-US" sz="2000">
                <a:latin typeface="Times New Roman" panose="02020603050405020304" charset="0"/>
                <a:cs typeface="Times New Roman" panose="02020603050405020304" charset="0"/>
              </a:rPr>
              <a:t> that recommends drugs by using collaborative filtering methods.This system clusters drugs based on specific features and gives top-N prescriptions for their users.However, the above system has several drawbacks such as high computational costs, cold start</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problems and sparse data.</a:t>
            </a:r>
          </a:p>
          <a:p>
            <a:endParaRPr lang="en-US"/>
          </a:p>
          <a:p>
            <a:pPr marL="342900" indent="-342900" algn="just">
              <a:lnSpc>
                <a:spcPct val="150000"/>
              </a:lnSpc>
              <a:buFont typeface="Wingdings" panose="05000000000000000000" charset="0"/>
              <a:buChar char="Ø"/>
            </a:pPr>
            <a:r>
              <a:rPr lang="en-US" sz="2000">
                <a:latin typeface="Times New Roman" panose="02020603050405020304" charset="0"/>
                <a:cs typeface="Times New Roman" panose="02020603050405020304" charset="0"/>
              </a:rPr>
              <a:t>To address these issues, the tensor decomposition-based cloud approach</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was implemented and used, which,while offering more efficient and accurate drug</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recommendations than its predecessors, it had much</a:t>
            </a:r>
          </a:p>
          <a:p>
            <a:pPr indent="0" algn="just">
              <a:lnSpc>
                <a:spcPct val="150000"/>
              </a:lnSpc>
              <a:buFont typeface="Wingdings" panose="05000000000000000000" charset="0"/>
              <a:buNone/>
            </a:pPr>
            <a:r>
              <a:rPr lang="en-US" sz="2000">
                <a:latin typeface="Times New Roman" panose="02020603050405020304" charset="0"/>
                <a:cs typeface="Times New Roman" panose="02020603050405020304" charset="0"/>
              </a:rPr>
              <a:t>      to b</a:t>
            </a:r>
            <a:r>
              <a:rPr lang="en-IN" altLang="en-US" sz="2000">
                <a:latin typeface="Times New Roman" panose="02020603050405020304" charset="0"/>
                <a:cs typeface="Times New Roman" panose="02020603050405020304" charset="0"/>
              </a:rPr>
              <a:t>e </a:t>
            </a:r>
            <a:r>
              <a:rPr lang="en-US" sz="2000">
                <a:latin typeface="Times New Roman" panose="02020603050405020304" charset="0"/>
                <a:cs typeface="Times New Roman" panose="02020603050405020304" charset="0"/>
              </a:rPr>
              <a:t>desired in terms of performance and</a:t>
            </a:r>
            <a:r>
              <a:rPr lang="en-IN" altLang="en-US" sz="2000">
                <a:latin typeface="Times New Roman" panose="02020603050405020304" charset="0"/>
                <a:cs typeface="Times New Roman" panose="02020603050405020304" charset="0"/>
              </a:rPr>
              <a:t> </a:t>
            </a:r>
            <a:r>
              <a:rPr lang="en-US" sz="2000">
                <a:latin typeface="Times New Roman" panose="02020603050405020304" charset="0"/>
                <a:cs typeface="Times New Roman" panose="02020603050405020304" charset="0"/>
              </a:rPr>
              <a:t>accuracy.</a:t>
            </a:r>
          </a:p>
          <a:p>
            <a:pPr marL="285750" indent="-285750">
              <a:buFont typeface="Wingdings" panose="05000000000000000000" charset="0"/>
              <a:buChar char="Ø"/>
            </a:pPr>
            <a:endParaRPr lang="en-US" sz="20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sz="2000">
                <a:latin typeface="Times New Roman" panose="02020603050405020304" charset="0"/>
                <a:cs typeface="Times New Roman" panose="02020603050405020304" charset="0"/>
              </a:rPr>
              <a:t>Unlike most such commercial recommendation systems, the system is going to be a fully functional digital health assistant.</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solidFill>
                  <a:srgbClr val="002060"/>
                </a:solidFill>
                <a:sym typeface="+mn-ea"/>
              </a:rPr>
              <a:t> </a:t>
            </a:r>
          </a:p>
          <a:p>
            <a:pPr algn="ctr"/>
            <a:endParaRPr lang="en-IN" altLang="en-US">
              <a:solidFill>
                <a:srgbClr val="002060"/>
              </a:solidFill>
              <a:sym typeface="+mn-ea"/>
            </a:endParaRPr>
          </a:p>
          <a:p>
            <a:pPr algn="ctr"/>
            <a:endParaRPr lang="en-IN" altLang="en-US">
              <a:solidFill>
                <a:srgbClr val="002060"/>
              </a:solidFill>
              <a:sym typeface="+mn-ea"/>
            </a:endParaRPr>
          </a:p>
          <a:p>
            <a:pPr algn="ctr"/>
            <a:endParaRPr lang="en-IN" altLang="en-US" sz="1400">
              <a:solidFill>
                <a:srgbClr val="002060"/>
              </a:solidFill>
              <a:latin typeface="Times New Roman" panose="02020603050405020304" charset="0"/>
              <a:cs typeface="Times New Roman" panose="02020603050405020304" charset="0"/>
              <a:sym typeface="+mn-ea"/>
            </a:endParaRPr>
          </a:p>
          <a:p>
            <a:pPr algn="ctr"/>
            <a:r>
              <a:rPr lang="en-IN" altLang="en-US" sz="140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a:solidFill>
                <a:srgbClr val="002060"/>
              </a:solidFill>
              <a:sym typeface="+mn-ea"/>
            </a:endParaRPr>
          </a:p>
          <a:p>
            <a:pPr algn="ctr"/>
            <a:r>
              <a:rPr lang="en-IN" altLang="en-US">
                <a:solidFill>
                  <a:srgbClr val="002060"/>
                </a:solidFill>
                <a:sym typeface="+mn-ea"/>
              </a:rPr>
              <a:t> </a:t>
            </a:r>
          </a:p>
          <a:p>
            <a:pPr algn="ctr"/>
            <a:endParaRPr lang="en-IN" altLang="en-US">
              <a:solidFill>
                <a:srgbClr val="002060"/>
              </a:solidFill>
            </a:endParaRPr>
          </a:p>
          <a:p>
            <a:pPr algn="ctr"/>
            <a:endParaRPr lang="en-US"/>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3" name="Rectangles 2"/>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10795"/>
            <a:ext cx="12192000" cy="98488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PROPOSED SYSTEM</a:t>
            </a:r>
          </a:p>
        </p:txBody>
      </p:sp>
      <p:sp>
        <p:nvSpPr>
          <p:cNvPr id="5" name="Text Box 4"/>
          <p:cNvSpPr txBox="1"/>
          <p:nvPr/>
        </p:nvSpPr>
        <p:spPr>
          <a:xfrm>
            <a:off x="273685" y="1350645"/>
            <a:ext cx="11746230" cy="5222240"/>
          </a:xfrm>
          <a:prstGeom prst="rect">
            <a:avLst/>
          </a:prstGeom>
          <a:noFill/>
        </p:spPr>
        <p:txBody>
          <a:bodyPr wrap="square" rtlCol="0">
            <a:noAutofit/>
          </a:bodyPr>
          <a:lstStyle/>
          <a:p>
            <a:r>
              <a:rPr lang="en-US" sz="2000" b="1">
                <a:latin typeface="Times New Roman" panose="02020603050405020304" charset="0"/>
                <a:cs typeface="Times New Roman" panose="02020603050405020304" charset="0"/>
              </a:rPr>
              <a:t>Comprehensive Medication Management and Recommendation Platform</a:t>
            </a:r>
          </a:p>
          <a:p>
            <a:endParaRPr lang="en-US"/>
          </a:p>
          <a:p>
            <a:r>
              <a:rPr lang="en-US" sz="2000" b="1">
                <a:latin typeface="Times New Roman" panose="02020603050405020304" charset="0"/>
                <a:cs typeface="Times New Roman" panose="02020603050405020304" charset="0"/>
              </a:rPr>
              <a:t>Objective</a:t>
            </a:r>
            <a:r>
              <a:rPr lang="en-US"/>
              <a:t>: Personalized medication recommendations, improved adherence, and enhanced patient engagement.</a:t>
            </a:r>
          </a:p>
          <a:p>
            <a:endParaRPr lang="en-US"/>
          </a:p>
          <a:p>
            <a:r>
              <a:rPr lang="en-US" sz="2000" b="1">
                <a:latin typeface="Times New Roman" panose="02020603050405020304" charset="0"/>
                <a:cs typeface="Times New Roman" panose="02020603050405020304" charset="0"/>
              </a:rPr>
              <a:t>Key Components</a:t>
            </a:r>
            <a:r>
              <a:rPr lang="en-US"/>
              <a:t>:</a:t>
            </a:r>
          </a:p>
          <a:p>
            <a:pPr algn="just"/>
            <a:endParaRPr lang="en-US">
              <a:latin typeface="Times New Roman" panose="02020603050405020304" charset="0"/>
              <a:cs typeface="Times New Roman" panose="02020603050405020304" charset="0"/>
            </a:endParaRP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Patient Portal (medical history, reminders, tracking)</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Drug Recommendation System (SVM, TF-IDF algorithms)</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Local Pharmacy Integration (location-based, real-time availability)</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User Interaction Features (medication tracking, health advice)</a:t>
            </a:r>
          </a:p>
          <a:p>
            <a:pPr marL="342900" indent="-342900" algn="just">
              <a:buFont typeface="Wingdings" panose="05000000000000000000" charset="0"/>
              <a:buChar char="Ø"/>
            </a:pPr>
            <a:r>
              <a:rPr lang="en-US" sz="2000">
                <a:latin typeface="Times New Roman" panose="02020603050405020304" charset="0"/>
                <a:cs typeface="Times New Roman" panose="02020603050405020304" charset="0"/>
              </a:rPr>
              <a:t> Healthcare Professional Portal (electronic prescriptions, monitoring)</a:t>
            </a:r>
          </a:p>
          <a:p>
            <a:pPr algn="just"/>
            <a:endParaRPr lang="en-US" sz="2000">
              <a:latin typeface="Times New Roman" panose="02020603050405020304" charset="0"/>
              <a:cs typeface="Times New Roman" panose="02020603050405020304" charset="0"/>
            </a:endParaRPr>
          </a:p>
          <a:p>
            <a:pPr algn="just"/>
            <a:r>
              <a:rPr lang="en-US" sz="2000">
                <a:latin typeface="Times New Roman" panose="02020603050405020304" charset="0"/>
                <a:cs typeface="Times New Roman" panose="02020603050405020304" charset="0"/>
              </a:rPr>
              <a:t>This project aims to transform medication management and improve patient outcomes.</a:t>
            </a:r>
          </a:p>
        </p:txBody>
      </p:sp>
      <p:sp>
        <p:nvSpPr>
          <p:cNvPr id="1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a:t>B-13</a:t>
            </a:r>
          </a:p>
        </p:txBody>
      </p:sp>
      <p:sp>
        <p:nvSpPr>
          <p:cNvPr id="13" name="Rectangles 12"/>
          <p:cNvSpPr/>
          <p:nvPr/>
        </p:nvSpPr>
        <p:spPr>
          <a:xfrm>
            <a:off x="723900" y="6603365"/>
            <a:ext cx="5520690" cy="276860"/>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solidFill>
                  <a:srgbClr val="002060"/>
                </a:solidFill>
                <a:sym typeface="+mn-ea"/>
              </a:rPr>
              <a:t> </a:t>
            </a:r>
          </a:p>
          <a:p>
            <a:pPr algn="ctr"/>
            <a:endParaRPr lang="en-IN" altLang="en-US" dirty="0">
              <a:solidFill>
                <a:srgbClr val="002060"/>
              </a:solidFill>
              <a:sym typeface="+mn-ea"/>
            </a:endParaRPr>
          </a:p>
          <a:p>
            <a:pPr algn="ctr"/>
            <a:endParaRPr lang="en-IN" altLang="en-US" dirty="0">
              <a:solidFill>
                <a:srgbClr val="002060"/>
              </a:solidFill>
              <a:sym typeface="+mn-ea"/>
            </a:endParaRPr>
          </a:p>
          <a:p>
            <a:pPr algn="ctr"/>
            <a:endParaRPr lang="en-IN" altLang="en-US" sz="1400" dirty="0">
              <a:solidFill>
                <a:srgbClr val="002060"/>
              </a:solidFill>
              <a:latin typeface="Times New Roman" panose="02020603050405020304" charset="0"/>
              <a:cs typeface="Times New Roman" panose="02020603050405020304" charset="0"/>
              <a:sym typeface="+mn-ea"/>
            </a:endParaRPr>
          </a:p>
          <a:p>
            <a:pPr algn="ctr"/>
            <a:r>
              <a:rPr lang="en-IN" altLang="en-US" sz="1400" dirty="0">
                <a:solidFill>
                  <a:srgbClr val="002060"/>
                </a:solidFill>
                <a:latin typeface="Times New Roman" panose="02020603050405020304" charset="0"/>
                <a:cs typeface="Times New Roman" panose="02020603050405020304" charset="0"/>
                <a:sym typeface="+mn-ea"/>
              </a:rPr>
              <a:t>DEPT. OF EMERGING TECHNOLOGIES IN COMPUTER SCIENCE</a:t>
            </a:r>
          </a:p>
          <a:p>
            <a:pPr algn="ctr"/>
            <a:endParaRPr lang="en-IN" altLang="en-US" dirty="0">
              <a:solidFill>
                <a:srgbClr val="002060"/>
              </a:solidFill>
              <a:sym typeface="+mn-ea"/>
            </a:endParaRPr>
          </a:p>
          <a:p>
            <a:pPr algn="ctr"/>
            <a:r>
              <a:rPr lang="en-IN" altLang="en-US" dirty="0">
                <a:solidFill>
                  <a:srgbClr val="002060"/>
                </a:solidFill>
                <a:sym typeface="+mn-ea"/>
              </a:rPr>
              <a:t> </a:t>
            </a:r>
          </a:p>
          <a:p>
            <a:pPr algn="ctr"/>
            <a:endParaRPr lang="en-IN" altLang="en-US" dirty="0">
              <a:solidFill>
                <a:srgbClr val="002060"/>
              </a:solidFill>
            </a:endParaRPr>
          </a:p>
          <a:p>
            <a:pPr algn="ctr"/>
            <a:endParaRPr lang="en-US" dirty="0"/>
          </a:p>
        </p:txBody>
      </p:sp>
      <p:sp>
        <p:nvSpPr>
          <p:cNvPr id="15" name="Rectangles 14"/>
          <p:cNvSpPr/>
          <p:nvPr/>
        </p:nvSpPr>
        <p:spPr>
          <a:xfrm>
            <a:off x="6266180" y="6591300"/>
            <a:ext cx="5297805" cy="255270"/>
          </a:xfrm>
          <a:prstGeom prst="rect">
            <a:avLst/>
          </a:prstGeom>
          <a:gradFill>
            <a:gsLst>
              <a:gs pos="0">
                <a:srgbClr val="007BD3"/>
              </a:gs>
              <a:gs pos="100000">
                <a:srgbClr val="034373"/>
              </a:gs>
            </a:gsLst>
            <a:lin scaled="0"/>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600">
                <a:latin typeface="Times New Roman" panose="02020603050405020304" charset="0"/>
                <a:cs typeface="Times New Roman" panose="02020603050405020304" charset="0"/>
              </a:rPr>
              <a:t>G PULLA REDDY ENGINEERING COLLEGE</a:t>
            </a:r>
          </a:p>
        </p:txBody>
      </p:sp>
      <p:sp>
        <p:nvSpPr>
          <p:cNvPr id="6" name="Rectangles 5"/>
          <p:cNvSpPr/>
          <p:nvPr/>
        </p:nvSpPr>
        <p:spPr>
          <a:xfrm>
            <a:off x="11585575" y="6591300"/>
            <a:ext cx="585470" cy="276860"/>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525" y="41910"/>
            <a:ext cx="12139930" cy="963930"/>
          </a:xfrm>
          <a:prstGeom prst="rect">
            <a:avLst/>
          </a:prstGeom>
          <a:noFill/>
        </p:spPr>
        <p:txBody>
          <a:bodyPr wrap="square" rtlCol="0">
            <a:noAutofit/>
          </a:bodyPr>
          <a:lstStyle/>
          <a:p>
            <a:r>
              <a:rPr lang="en-IN" altLang="en-US"/>
              <a:t>tf idf</a:t>
            </a:r>
          </a:p>
        </p:txBody>
      </p:sp>
      <p:sp>
        <p:nvSpPr>
          <p:cNvPr id="5" name="Rectangles 4"/>
          <p:cNvSpPr/>
          <p:nvPr/>
        </p:nvSpPr>
        <p:spPr>
          <a:xfrm>
            <a:off x="0" y="10795"/>
            <a:ext cx="12192000" cy="98488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dirty="0">
                <a:latin typeface="Times New Roman" panose="02020603050405020304" charset="0"/>
                <a:cs typeface="Times New Roman" panose="02020603050405020304" charset="0"/>
              </a:rPr>
              <a:t>ALGORITHMS</a:t>
            </a:r>
            <a:r>
              <a:rPr lang="en-US" altLang="en-IN" sz="2400" b="1" dirty="0">
                <a:latin typeface="Times New Roman" panose="02020603050405020304" charset="0"/>
                <a:cs typeface="Times New Roman" panose="02020603050405020304" charset="0"/>
              </a:rPr>
              <a:t> AND PLANNING</a:t>
            </a:r>
          </a:p>
        </p:txBody>
      </p:sp>
      <p:sp>
        <p:nvSpPr>
          <p:cNvPr id="6" name="Text Box 5"/>
          <p:cNvSpPr txBox="1"/>
          <p:nvPr/>
        </p:nvSpPr>
        <p:spPr>
          <a:xfrm>
            <a:off x="51435" y="1171463"/>
            <a:ext cx="12140565" cy="4090819"/>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Decision Trees </a:t>
            </a:r>
            <a:r>
              <a:rPr lang="en-US" dirty="0">
                <a:latin typeface="Times New Roman" panose="02020603050405020304" charset="0"/>
                <a:cs typeface="Times New Roman" panose="02020603050405020304" charset="0"/>
              </a:rPr>
              <a:t>provide transparent and interpretable results, allowing clinicians to understand the reasoning behind the recommended medication, to provide personalized medicine based on patient’s genetic profile of symptoms, medical history. </a:t>
            </a:r>
          </a:p>
          <a:p>
            <a:pPr marL="285750" indent="-285750" algn="just">
              <a:lnSpc>
                <a:spcPct val="150000"/>
              </a:lnSpc>
              <a:buFont typeface="Wingdings" panose="05000000000000000000" pitchFamily="2" charset="2"/>
              <a:buChar char="Ø"/>
            </a:pPr>
            <a:endParaRPr lang="en-US" b="1" dirty="0">
              <a:latin typeface="Times New Roman" panose="02020603050405020304" charset="0"/>
              <a:cs typeface="Times New Roman" panose="02020603050405020304" charset="0"/>
            </a:endParaRPr>
          </a:p>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TF-IDF</a:t>
            </a:r>
            <a:r>
              <a:rPr lang="en-US" dirty="0">
                <a:latin typeface="Times New Roman" panose="02020603050405020304" charset="0"/>
                <a:cs typeface="Times New Roman" panose="02020603050405020304" charset="0"/>
              </a:rPr>
              <a:t> stands for Term Frequency Inverse Document Frequency of records. It can be defined as the calculation of how relevant a word in a series or corpus is to a text. The meaning increases proportionally to the number of times in the text a word appears but is compensated by the word frequency in the corpus (data-set).</a:t>
            </a:r>
          </a:p>
          <a:p>
            <a:pPr algn="just">
              <a:lnSpc>
                <a:spcPct val="150000"/>
              </a:lnSpc>
            </a:pPr>
            <a:r>
              <a:rPr lang="en-IN" altLang="en-US" dirty="0">
                <a:latin typeface="Times New Roman" panose="02020603050405020304" charset="0"/>
                <a:cs typeface="Times New Roman" panose="02020603050405020304" charset="0"/>
              </a:rPr>
              <a:t>                                  </a:t>
            </a:r>
            <a:endParaRPr lang="en-US" sz="2400" b="1" dirty="0">
              <a:latin typeface="Times New Roman" panose="02020603050405020304" charset="0"/>
              <a:cs typeface="Times New Roman" panose="02020603050405020304" charset="0"/>
            </a:endParaRPr>
          </a:p>
          <a:p>
            <a:pPr marL="285750" indent="-285750" algn="just">
              <a:lnSpc>
                <a:spcPct val="150000"/>
              </a:lnSpc>
              <a:buFont typeface="Wingdings" panose="05000000000000000000" pitchFamily="2" charset="2"/>
              <a:buChar char="Ø"/>
            </a:pPr>
            <a:r>
              <a:rPr lang="en-US" b="1" dirty="0">
                <a:latin typeface="Times New Roman" panose="02020603050405020304" charset="0"/>
                <a:cs typeface="Times New Roman" panose="02020603050405020304" charset="0"/>
              </a:rPr>
              <a:t>Support Vector Machine (SVM) </a:t>
            </a:r>
            <a:r>
              <a:rPr lang="en-US" dirty="0">
                <a:latin typeface="Times New Roman" panose="02020603050405020304" charset="0"/>
                <a:cs typeface="Times New Roman" panose="02020603050405020304" charset="0"/>
              </a:rPr>
              <a:t>is a powerful machine learning algorithm widely used for both linear and nonlinear classification, as well as regression and outlier detection tasks. SVMs are highly adaptable, making them suitable for various applications such as text classification, image classification, spam detection, handwriting identification, gene expression analysis, face detection, and anomaly detection</a:t>
            </a:r>
            <a:r>
              <a:rPr lang="en-US" sz="2400" dirty="0">
                <a:latin typeface="Times New Roman" panose="02020603050405020304" charset="0"/>
                <a:cs typeface="Times New Roman" panose="02020603050405020304" charset="0"/>
              </a:rPr>
              <a:t>.</a:t>
            </a:r>
          </a:p>
          <a:p>
            <a:pPr algn="just">
              <a:lnSpc>
                <a:spcPct val="150000"/>
              </a:lnSpc>
            </a:pPr>
            <a:endParaRPr lang="en-US" sz="2400" b="1" dirty="0">
              <a:latin typeface="Times New Roman" panose="02020603050405020304" charset="0"/>
              <a:cs typeface="Times New Roman" panose="02020603050405020304" charset="0"/>
            </a:endParaRPr>
          </a:p>
        </p:txBody>
      </p:sp>
      <p:sp>
        <p:nvSpPr>
          <p:cNvPr id="2" name="Rectangles 11"/>
          <p:cNvSpPr/>
          <p:nvPr/>
        </p:nvSpPr>
        <p:spPr>
          <a:xfrm>
            <a:off x="41910" y="6591300"/>
            <a:ext cx="702310" cy="288925"/>
          </a:xfrm>
          <a:prstGeom prst="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dirty="0"/>
              <a:t>B-13</a:t>
            </a:r>
          </a:p>
        </p:txBody>
      </p:sp>
      <p:pic>
        <p:nvPicPr>
          <p:cNvPr id="12" name="Picture 11"/>
          <p:cNvPicPr>
            <a:picLocks noChangeAspect="1"/>
          </p:cNvPicPr>
          <p:nvPr/>
        </p:nvPicPr>
        <p:blipFill>
          <a:blip r:embed="rId2"/>
          <a:stretch>
            <a:fillRect/>
          </a:stretch>
        </p:blipFill>
        <p:spPr>
          <a:xfrm>
            <a:off x="6246915" y="6567674"/>
            <a:ext cx="5310076" cy="432854"/>
          </a:xfrm>
          <a:prstGeom prst="rect">
            <a:avLst/>
          </a:prstGeom>
        </p:spPr>
      </p:pic>
      <p:sp>
        <p:nvSpPr>
          <p:cNvPr id="15" name="Rectangle 14"/>
          <p:cNvSpPr/>
          <p:nvPr/>
        </p:nvSpPr>
        <p:spPr>
          <a:xfrm>
            <a:off x="11556991" y="6591300"/>
            <a:ext cx="635009" cy="2667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11</a:t>
            </a:r>
          </a:p>
        </p:txBody>
      </p:sp>
      <p:sp>
        <p:nvSpPr>
          <p:cNvPr id="16" name="Rectangle 15"/>
          <p:cNvSpPr/>
          <p:nvPr/>
        </p:nvSpPr>
        <p:spPr>
          <a:xfrm>
            <a:off x="744220" y="6591300"/>
            <a:ext cx="5502695" cy="288925"/>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tLang="en-US" sz="1400" dirty="0">
              <a:solidFill>
                <a:srgbClr val="002060"/>
              </a:solidFill>
              <a:sym typeface="+mn-ea"/>
            </a:endParaRPr>
          </a:p>
          <a:p>
            <a:pPr algn="ctr"/>
            <a:r>
              <a:rPr lang="en-IN" altLang="en-US" sz="1200" dirty="0">
                <a:solidFill>
                  <a:srgbClr val="002060"/>
                </a:solidFill>
                <a:sym typeface="+mn-ea"/>
              </a:rPr>
              <a:t>DEPT. OF EMERGING TECHNOLOGIES IN COMPUTER SCIENCE</a:t>
            </a:r>
          </a:p>
          <a:p>
            <a:pPr algn="ctr"/>
            <a:endParaRPr lang="en-IN" altLang="en-US" sz="1400" dirty="0">
              <a:solidFill>
                <a:srgbClr val="002060"/>
              </a:solidFill>
              <a:latin typeface="Times New Roman" panose="02020603050405020304" charset="0"/>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0"/>
            <a:ext cx="12192000" cy="1156335"/>
          </a:xfrm>
          <a:prstGeom prst="rect">
            <a:avLst/>
          </a:prstGeom>
          <a:solidFill>
            <a:srgbClr val="0070C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2400" b="1">
                <a:latin typeface="Times New Roman" panose="02020603050405020304" charset="0"/>
                <a:cs typeface="Times New Roman" panose="02020603050405020304" charset="0"/>
              </a:rPr>
              <a:t>DESIGN</a:t>
            </a:r>
          </a:p>
        </p:txBody>
      </p:sp>
      <p:sp>
        <p:nvSpPr>
          <p:cNvPr id="2" name="Text Box 1"/>
          <p:cNvSpPr txBox="1"/>
          <p:nvPr/>
        </p:nvSpPr>
        <p:spPr>
          <a:xfrm>
            <a:off x="75565" y="1420495"/>
            <a:ext cx="11837670" cy="5163820"/>
          </a:xfrm>
          <a:prstGeom prst="rect">
            <a:avLst/>
          </a:prstGeom>
          <a:noFill/>
        </p:spPr>
        <p:txBody>
          <a:bodyPr wrap="square" rtlCol="0">
            <a:noAutofit/>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387" y="1353671"/>
            <a:ext cx="10031225" cy="52714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s 1"/>
          <p:cNvSpPr/>
          <p:nvPr/>
        </p:nvSpPr>
        <p:spPr>
          <a:xfrm>
            <a:off x="0" y="1"/>
            <a:ext cx="12192000" cy="1018540"/>
          </a:xfrm>
          <a:prstGeom prst="rect">
            <a:avLst/>
          </a:prstGeom>
          <a:solidFill>
            <a:srgbClr val="0070C0"/>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000" b="1">
                <a:latin typeface="Times New Roman" panose="02020603050405020304" charset="0"/>
                <a:cs typeface="Times New Roman" panose="02020603050405020304" charset="0"/>
              </a:rPr>
              <a:t>GIT HUB LINKS</a:t>
            </a:r>
          </a:p>
        </p:txBody>
      </p:sp>
      <p:sp>
        <p:nvSpPr>
          <p:cNvPr id="3" name="Text Box 2"/>
          <p:cNvSpPr txBox="1"/>
          <p:nvPr/>
        </p:nvSpPr>
        <p:spPr>
          <a:xfrm>
            <a:off x="151130" y="1132840"/>
            <a:ext cx="11894820" cy="5497195"/>
          </a:xfrm>
          <a:prstGeom prst="rect">
            <a:avLst/>
          </a:prstGeom>
          <a:noFill/>
        </p:spPr>
        <p:txBody>
          <a:bodyPr wrap="square" rtlCol="0">
            <a:noAutofit/>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822" y="1128463"/>
            <a:ext cx="11338561" cy="54739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7143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570" y="222069"/>
            <a:ext cx="11586755" cy="6348547"/>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54" y="1"/>
            <a:ext cx="11848012" cy="66620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66" y="248194"/>
            <a:ext cx="11887200" cy="65183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104982-6A50-57CB-B09D-5EEF298D46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857999"/>
          </a:xfrm>
          <a:prstGeom prst="rect">
            <a:avLst/>
          </a:prstGeom>
        </p:spPr>
      </p:pic>
      <p:pic>
        <p:nvPicPr>
          <p:cNvPr id="12" name="Content Placeholder 11">
            <a:extLst>
              <a:ext uri="{FF2B5EF4-FFF2-40B4-BE49-F238E27FC236}">
                <a16:creationId xmlns:a16="http://schemas.microsoft.com/office/drawing/2014/main" id="{87974EF4-A393-EC60-6B1E-7D29FA32823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33247" y="0"/>
            <a:ext cx="6158753" cy="6857999"/>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 y="143691"/>
            <a:ext cx="11782697" cy="65444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565"/>
            <a:ext cx="12192000" cy="65183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48871"/>
            <a:ext cx="10972800" cy="5077292"/>
          </a:xfrm>
        </p:spPr>
        <p:txBody>
          <a:bodyPr/>
          <a:lstStyle/>
          <a:p>
            <a:pPr>
              <a:buFont typeface="Wingdings" panose="05000000000000000000" pitchFamily="2" charset="2"/>
              <a:buChar char="Ø"/>
            </a:pPr>
            <a:r>
              <a:rPr lang="en-US" sz="2000" dirty="0"/>
              <a:t>Telemedicine Integration Service: Include telemedicine service for remote consultations.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Patient Specific Treatment Recommendation: Machine learning can be used to recommend      suitable treatment for patients.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Working with the Local Healthcare Providers: Work with the local health care providers to set patients appointments and other health care services</a:t>
            </a:r>
            <a:endParaRPr lang="en-IN" sz="2000" dirty="0"/>
          </a:p>
        </p:txBody>
      </p:sp>
      <p:sp>
        <p:nvSpPr>
          <p:cNvPr id="4" name="Rectangle 3"/>
          <p:cNvSpPr/>
          <p:nvPr/>
        </p:nvSpPr>
        <p:spPr>
          <a:xfrm>
            <a:off x="0" y="-1"/>
            <a:ext cx="12192000" cy="73183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FUTURE ENHANCEMENT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50BD77-6D3F-1902-7324-7759F946106E}"/>
              </a:ext>
            </a:extLst>
          </p:cNvPr>
          <p:cNvSpPr/>
          <p:nvPr/>
        </p:nvSpPr>
        <p:spPr>
          <a:xfrm>
            <a:off x="0" y="0"/>
            <a:ext cx="12192000" cy="94129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t>Paper Publication</a:t>
            </a:r>
          </a:p>
        </p:txBody>
      </p:sp>
      <p:pic>
        <p:nvPicPr>
          <p:cNvPr id="4" name="Picture 3">
            <a:extLst>
              <a:ext uri="{FF2B5EF4-FFF2-40B4-BE49-F238E27FC236}">
                <a16:creationId xmlns:a16="http://schemas.microsoft.com/office/drawing/2014/main" id="{6BB040C0-DC51-0A97-43CF-1D53F843208F}"/>
              </a:ext>
            </a:extLst>
          </p:cNvPr>
          <p:cNvPicPr>
            <a:picLocks noChangeAspect="1"/>
          </p:cNvPicPr>
          <p:nvPr/>
        </p:nvPicPr>
        <p:blipFill>
          <a:blip r:embed="rId2">
            <a:extLst>
              <a:ext uri="{28A0092B-C50C-407E-A947-70E740481C1C}">
                <a14:useLocalDpi xmlns:a14="http://schemas.microsoft.com/office/drawing/2010/main" val="0"/>
              </a:ext>
            </a:extLst>
          </a:blip>
          <a:srcRect l="6524" t="5302" r="7021" b="2272"/>
          <a:stretch/>
        </p:blipFill>
        <p:spPr>
          <a:xfrm>
            <a:off x="484094" y="941292"/>
            <a:ext cx="4957484" cy="5916707"/>
          </a:xfrm>
          <a:prstGeom prst="rect">
            <a:avLst/>
          </a:prstGeom>
        </p:spPr>
      </p:pic>
      <p:pic>
        <p:nvPicPr>
          <p:cNvPr id="6" name="Picture 5">
            <a:extLst>
              <a:ext uri="{FF2B5EF4-FFF2-40B4-BE49-F238E27FC236}">
                <a16:creationId xmlns:a16="http://schemas.microsoft.com/office/drawing/2014/main" id="{035F6097-3D3E-9150-64C4-E9558BC1D426}"/>
              </a:ext>
            </a:extLst>
          </p:cNvPr>
          <p:cNvPicPr>
            <a:picLocks noChangeAspect="1"/>
          </p:cNvPicPr>
          <p:nvPr/>
        </p:nvPicPr>
        <p:blipFill>
          <a:blip r:embed="rId3">
            <a:extLst>
              <a:ext uri="{28A0092B-C50C-407E-A947-70E740481C1C}">
                <a14:useLocalDpi xmlns:a14="http://schemas.microsoft.com/office/drawing/2010/main" val="0"/>
              </a:ext>
            </a:extLst>
          </a:blip>
          <a:srcRect l="5799" t="4706" r="4870" b="3006"/>
          <a:stretch/>
        </p:blipFill>
        <p:spPr>
          <a:xfrm>
            <a:off x="6660776" y="941292"/>
            <a:ext cx="4796117" cy="5916707"/>
          </a:xfrm>
          <a:prstGeom prst="rect">
            <a:avLst/>
          </a:prstGeom>
        </p:spPr>
      </p:pic>
    </p:spTree>
    <p:extLst>
      <p:ext uri="{BB962C8B-B14F-4D97-AF65-F5344CB8AC3E}">
        <p14:creationId xmlns:p14="http://schemas.microsoft.com/office/powerpoint/2010/main" val="1604081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12192000" cy="68484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64872"/>
            <a:ext cx="10972800" cy="5061292"/>
          </a:xfrm>
        </p:spPr>
        <p:txBody>
          <a:bodyPr/>
          <a:lstStyle/>
          <a:p>
            <a:r>
              <a:rPr lang="en-IN" sz="2000" dirty="0"/>
              <a:t>[1] </a:t>
            </a:r>
            <a:r>
              <a:rPr lang="en-IN" sz="2000" dirty="0" err="1"/>
              <a:t>Chengquan</a:t>
            </a:r>
            <a:r>
              <a:rPr lang="en-IN" sz="2000" dirty="0"/>
              <a:t> Zhang et al., "Look More Than Once: An Accurate Detector for Text </a:t>
            </a:r>
          </a:p>
          <a:p>
            <a:r>
              <a:rPr lang="en-IN" sz="2000" dirty="0"/>
              <a:t>of Arbitrary Shapes", </a:t>
            </a:r>
            <a:r>
              <a:rPr lang="en-IN" sz="2000" dirty="0" err="1"/>
              <a:t>arXiv</a:t>
            </a:r>
            <a:r>
              <a:rPr lang="en-IN" sz="2000" dirty="0"/>
              <a:t> preprint arXiv:1904.06535, 2019.</a:t>
            </a:r>
          </a:p>
          <a:p>
            <a:r>
              <a:rPr lang="en-IN" sz="2000" dirty="0"/>
              <a:t>[2] Y. Wu, X. Yang, J. Bian, Y. Guo, H. Xu and W. Hogan, "Combine Factual</a:t>
            </a:r>
          </a:p>
          <a:p>
            <a:r>
              <a:rPr lang="en-IN" sz="2000" dirty="0"/>
              <a:t>Medical Knowledge and Distributed Word Representation to Improve Clinical </a:t>
            </a:r>
          </a:p>
          <a:p>
            <a:r>
              <a:rPr lang="en-IN" sz="2000" dirty="0"/>
              <a:t>Named Entity Recognition", AMIA, 2018.</a:t>
            </a:r>
          </a:p>
          <a:p>
            <a:r>
              <a:rPr lang="en-IN" sz="2000" dirty="0"/>
              <a:t>[3] Shi </a:t>
            </a:r>
            <a:r>
              <a:rPr lang="en-IN" sz="2000" dirty="0" err="1"/>
              <a:t>Baoguang</a:t>
            </a:r>
            <a:r>
              <a:rPr lang="en-IN" sz="2000" dirty="0"/>
              <a:t>, Xiang Bai and Serge </a:t>
            </a:r>
            <a:r>
              <a:rPr lang="en-IN" sz="2000" dirty="0" err="1"/>
              <a:t>Belongie</a:t>
            </a:r>
            <a:r>
              <a:rPr lang="en-IN" sz="2000" dirty="0"/>
              <a:t>, "Detecting oriented text in natural </a:t>
            </a:r>
          </a:p>
          <a:p>
            <a:r>
              <a:rPr lang="en-IN" sz="2000" dirty="0"/>
              <a:t>images by linking segments", Proceedings of the IEEE Conference on Computer </a:t>
            </a:r>
          </a:p>
          <a:p>
            <a:r>
              <a:rPr lang="en-IN" sz="2000" dirty="0"/>
              <a:t>Vision and Pattern Recognition, 2017.</a:t>
            </a:r>
          </a:p>
          <a:p>
            <a:r>
              <a:rPr lang="en-IN" sz="2000" dirty="0"/>
              <a:t>[4] A. Stubbs, M. </a:t>
            </a:r>
            <a:r>
              <a:rPr lang="en-IN" sz="2000" dirty="0" err="1"/>
              <a:t>Filannino</a:t>
            </a:r>
            <a:r>
              <a:rPr lang="en-IN" sz="2000" dirty="0"/>
              <a:t> and Ö. </a:t>
            </a:r>
            <a:r>
              <a:rPr lang="en-IN" sz="2000" dirty="0" err="1"/>
              <a:t>Uzuner</a:t>
            </a:r>
            <a:r>
              <a:rPr lang="en-IN" sz="2000" dirty="0"/>
              <a:t>, "De-identification of psychiatric intake </a:t>
            </a:r>
          </a:p>
          <a:p>
            <a:r>
              <a:rPr lang="en-IN" sz="2000" dirty="0"/>
              <a:t>records: Overview of 2016 CEGS N-GRID shared tasks Track 1", J.</a:t>
            </a:r>
          </a:p>
          <a:p>
            <a:r>
              <a:rPr lang="en-IN" sz="2000" dirty="0"/>
              <a:t>Biomed. Inform, vol. 75S, pp. S4-S18, Nov. 2017.[5] T. </a:t>
            </a:r>
            <a:r>
              <a:rPr lang="en-IN" sz="2000" dirty="0" err="1"/>
              <a:t>Mikolov</a:t>
            </a:r>
            <a:r>
              <a:rPr lang="en-IN" sz="2000" dirty="0"/>
              <a:t>, E. Grave, P. Bojanowski, C. </a:t>
            </a:r>
            <a:r>
              <a:rPr lang="en-IN" sz="2000" dirty="0" err="1"/>
              <a:t>Puhrsch</a:t>
            </a:r>
            <a:r>
              <a:rPr lang="en-IN" sz="2000" dirty="0"/>
              <a:t> and A. </a:t>
            </a:r>
            <a:r>
              <a:rPr lang="en-IN" sz="2000" dirty="0" err="1"/>
              <a:t>Joulin</a:t>
            </a:r>
            <a:r>
              <a:rPr lang="en-IN" sz="2000" dirty="0"/>
              <a:t>, "Advances in</a:t>
            </a:r>
          </a:p>
          <a:p>
            <a:r>
              <a:rPr lang="en-IN" sz="2000" dirty="0"/>
              <a:t>Pre-Training Distributed Word Representations", </a:t>
            </a:r>
            <a:r>
              <a:rPr lang="en-IN" sz="2000" dirty="0" err="1"/>
              <a:t>CoRR</a:t>
            </a:r>
            <a:r>
              <a:rPr lang="en-IN" sz="2000" dirty="0"/>
              <a:t>, vol. abs/1712.09405, 2017.</a:t>
            </a:r>
          </a:p>
          <a:p>
            <a:endParaRPr lang="en-IN" sz="2000" dirty="0"/>
          </a:p>
        </p:txBody>
      </p:sp>
      <p:sp>
        <p:nvSpPr>
          <p:cNvPr id="5" name="Rectangle 4"/>
          <p:cNvSpPr/>
          <p:nvPr/>
        </p:nvSpPr>
        <p:spPr>
          <a:xfrm>
            <a:off x="0" y="0"/>
            <a:ext cx="12192000" cy="731837"/>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REFERENCES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0" y="160020"/>
            <a:ext cx="12088495" cy="6527165"/>
          </a:xfrm>
          <a:prstGeom prst="rect">
            <a:avLst/>
          </a:prstGeom>
          <a:noFill/>
        </p:spPr>
        <p:txBody>
          <a:bodyPr wrap="square" rtlCol="0">
            <a:noAutofit/>
          </a:bodyPr>
          <a:lstStyle/>
          <a:p>
            <a:endParaRPr lang="en-US"/>
          </a:p>
        </p:txBody>
      </p:sp>
      <p:pic>
        <p:nvPicPr>
          <p:cNvPr id="6" name="Picture 5"/>
          <p:cNvPicPr>
            <a:picLocks noChangeAspect="1"/>
          </p:cNvPicPr>
          <p:nvPr/>
        </p:nvPicPr>
        <p:blipFill>
          <a:blip r:embed="rId2"/>
          <a:stretch>
            <a:fillRect/>
          </a:stretch>
        </p:blipFill>
        <p:spPr>
          <a:xfrm>
            <a:off x="1651000" y="317500"/>
            <a:ext cx="8890000" cy="622300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1662</Words>
  <Application>Microsoft Office PowerPoint</Application>
  <PresentationFormat>Widescreen</PresentationFormat>
  <Paragraphs>209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Anjum Mehattar</dc:creator>
  <cp:lastModifiedBy>Anjum Mehattar</cp:lastModifiedBy>
  <cp:revision>27</cp:revision>
  <dcterms:created xsi:type="dcterms:W3CDTF">2024-10-18T19:12:00Z</dcterms:created>
  <dcterms:modified xsi:type="dcterms:W3CDTF">2025-05-01T14:15:48Z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D44007B762B64EC88F0837D44EDC237B_12</vt:lpwstr>
  </property>
  <property fmtid="{D5CDD505-2E9C-101B-9397-08002B2CF9AE}" pid="3" name="KSOProductBuildVer">
    <vt:lpwstr>1033-12.2.0.20326</vt:lpwstr>
  </property>
</Properties>
</file>